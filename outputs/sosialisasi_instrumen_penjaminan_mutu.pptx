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6805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nJGiUrdr-QCb9GoltjmxMS9BK_i1eGwwx7VjDTLJ8Z8/edit" TargetMode="External"/><Relationship Id="rId2" Type="http://schemas.openxmlformats.org/officeDocument/2006/relationships/hyperlink" Target="https://docs.google.com/forms/d/1uHzZrUlV2MuCAxA6DwmzI0q-IoAZJhlY5FUHOKEWH44/edit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13232" y="6583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PENJAMINAN MUTU PELATIHAN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5800" y="128016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Instrumen Penjaminan Mutu Pelatihan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13232" y="297180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Cara penyelenggara mengisi, tim penilai memeriksa, dan semua pihak memantau progres indikator.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13232" y="4160520"/>
            <a:ext cx="2011680" cy="0"/>
          </a:xfrm>
          <a:prstGeom prst="line">
            <a:avLst/>
          </a:prstGeom>
          <a:noFill/>
          <a:ln w="381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13232" y="4617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Untuk penyelenggara dan tim penilai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 rot="1200000">
            <a:off x="8686800" y="1325880"/>
            <a:ext cx="1920240" cy="1920240"/>
          </a:xfrm>
          <a:prstGeom prst="arc">
            <a:avLst/>
          </a:prstGeom>
          <a:noFill/>
          <a:ln w="101600">
            <a:solidFill>
              <a:srgbClr val="1F4E79">
                <a:alpha val="8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 rot="10800000">
            <a:off x="9646920" y="2468880"/>
            <a:ext cx="1234440" cy="1234440"/>
          </a:xfrm>
          <a:prstGeom prst="arc">
            <a:avLst/>
          </a:prstGeom>
          <a:noFill/>
          <a:ln w="88900">
            <a:solidFill>
              <a:srgbClr val="2E7D32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8046720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800" b="1">
                <a:solidFill>
                  <a:srgbClr val="172033"/>
                </a:solidFill>
                <a:latin typeface="Aptos"/>
              </a:rPr>
              <a:t>Dua platform yang digunakan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841248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50" b="0">
                <a:solidFill>
                  <a:srgbClr val="667085"/>
                </a:solidFill>
                <a:latin typeface="Aptos"/>
              </a:rPr>
              <a:t>Peran dibuat sederhana: penyelenggara memakai Form dan Sheet, sedangkan tim penilai bekerja hanya di Google Sheets.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1005840" cy="274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60120" y="2057400"/>
            <a:ext cx="4160520" cy="1508760"/>
          </a:xfrm>
          <a:prstGeom prst="roundRect">
            <a:avLst/>
          </a:prstGeom>
          <a:solidFill>
            <a:srgbClr val="DCEBFA"/>
          </a:solidFill>
          <a:ln w="1778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16152" y="2331720"/>
            <a:ext cx="35661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200" b="1">
                <a:solidFill>
                  <a:srgbClr val="1F4E79"/>
                </a:solidFill>
                <a:latin typeface="Aptos"/>
              </a:rPr>
              <a:t>Google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6152" y="2788920"/>
            <a:ext cx="3125279" cy="4616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500" b="0" dirty="0" err="1">
                <a:solidFill>
                  <a:srgbClr val="172033"/>
                </a:solidFill>
                <a:latin typeface="Aptos"/>
              </a:rPr>
              <a:t>Tempat</a:t>
            </a:r>
            <a:r>
              <a:rPr sz="1500" b="0" dirty="0">
                <a:solidFill>
                  <a:srgbClr val="172033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Aptos"/>
              </a:rPr>
              <a:t>penyelenggara</a:t>
            </a:r>
            <a:r>
              <a:rPr sz="1500" b="0" dirty="0">
                <a:solidFill>
                  <a:srgbClr val="172033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Aptos"/>
              </a:rPr>
              <a:t>mengirim</a:t>
            </a:r>
            <a:r>
              <a:rPr sz="1500" b="0" dirty="0">
                <a:solidFill>
                  <a:srgbClr val="172033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Aptos"/>
              </a:rPr>
              <a:t>atau</a:t>
            </a:r>
            <a:r>
              <a:rPr sz="1500" b="0" dirty="0">
                <a:solidFill>
                  <a:srgbClr val="172033"/>
                </a:solidFill>
                <a:latin typeface="Aptos"/>
              </a:rPr>
              <a:t> </a:t>
            </a:r>
            <a:endParaRPr lang="en-US" sz="1500" b="0" dirty="0">
              <a:solidFill>
                <a:srgbClr val="172033"/>
              </a:solidFill>
              <a:latin typeface="Aptos"/>
            </a:endParaRPr>
          </a:p>
          <a:p>
            <a:r>
              <a:rPr sz="1500" b="0" dirty="0" err="1">
                <a:solidFill>
                  <a:srgbClr val="172033"/>
                </a:solidFill>
                <a:latin typeface="Aptos"/>
              </a:rPr>
              <a:t>mengedit</a:t>
            </a:r>
            <a:r>
              <a:rPr sz="1500" b="0" dirty="0">
                <a:solidFill>
                  <a:srgbClr val="172033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Aptos"/>
              </a:rPr>
              <a:t>jawaban</a:t>
            </a:r>
            <a:r>
              <a:rPr sz="1500" b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2057400"/>
            <a:ext cx="4160520" cy="1508760"/>
          </a:xfrm>
          <a:prstGeom prst="roundRect">
            <a:avLst/>
          </a:prstGeom>
          <a:solidFill>
            <a:srgbClr val="D9EAD3"/>
          </a:solidFill>
          <a:ln w="1778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11112" y="2331720"/>
            <a:ext cx="35661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200" b="1">
                <a:solidFill>
                  <a:srgbClr val="2E7D32"/>
                </a:solidFill>
                <a:latin typeface="Aptos"/>
              </a:rPr>
              <a:t>Google Sheets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1112" y="2788920"/>
            <a:ext cx="3501728" cy="4616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500" b="0" dirty="0" err="1">
                <a:solidFill>
                  <a:srgbClr val="172033"/>
                </a:solidFill>
                <a:latin typeface="Aptos"/>
              </a:rPr>
              <a:t>Tempat</a:t>
            </a:r>
            <a:r>
              <a:rPr sz="1500" b="0" dirty="0">
                <a:solidFill>
                  <a:srgbClr val="172033"/>
                </a:solidFill>
                <a:latin typeface="Aptos"/>
              </a:rPr>
              <a:t> monitoring progress dan </a:t>
            </a:r>
            <a:r>
              <a:rPr sz="1500" b="0" dirty="0" err="1">
                <a:solidFill>
                  <a:srgbClr val="172033"/>
                </a:solidFill>
                <a:latin typeface="Aptos"/>
              </a:rPr>
              <a:t>penilaian</a:t>
            </a:r>
            <a:r>
              <a:rPr sz="1500" b="0" dirty="0">
                <a:solidFill>
                  <a:srgbClr val="172033"/>
                </a:solidFill>
                <a:latin typeface="Aptos"/>
              </a:rPr>
              <a:t> </a:t>
            </a:r>
            <a:endParaRPr lang="en-US" sz="1500" b="0" dirty="0">
              <a:solidFill>
                <a:srgbClr val="172033"/>
              </a:solidFill>
              <a:latin typeface="Aptos"/>
            </a:endParaRPr>
          </a:p>
          <a:p>
            <a:r>
              <a:rPr sz="1500" b="0" dirty="0" err="1">
                <a:solidFill>
                  <a:srgbClr val="172033"/>
                </a:solidFill>
                <a:latin typeface="Aptos"/>
              </a:rPr>
              <a:t>indikator</a:t>
            </a:r>
            <a:r>
              <a:rPr sz="1500" b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069080"/>
            <a:ext cx="43891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00" b="1">
                <a:solidFill>
                  <a:srgbClr val="172033"/>
                </a:solidFill>
                <a:latin typeface="Aptos"/>
              </a:rPr>
              <a:t>Siapa menggunakan apa?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690872"/>
            <a:ext cx="2057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600" b="1">
                <a:solidFill>
                  <a:srgbClr val="172033"/>
                </a:solidFill>
                <a:latin typeface="Aptos"/>
              </a:rPr>
              <a:t>Penyelenggara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4617720"/>
            <a:ext cx="2423160" cy="502920"/>
          </a:xfrm>
          <a:prstGeom prst="round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13048" y="4754880"/>
            <a:ext cx="22128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50" b="1">
                <a:solidFill>
                  <a:srgbClr val="1F4E79"/>
                </a:solidFill>
                <a:latin typeface="Aptos"/>
              </a:rPr>
              <a:t>Mengisi Form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4617720"/>
            <a:ext cx="2423160" cy="502920"/>
          </a:xfrm>
          <a:prstGeom prst="roundRect">
            <a:avLst/>
          </a:prstGeom>
          <a:solidFill>
            <a:srgbClr val="D9E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70648" y="4754880"/>
            <a:ext cx="22128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50" b="1">
                <a:solidFill>
                  <a:srgbClr val="2E7D32"/>
                </a:solidFill>
                <a:latin typeface="Aptos"/>
              </a:rPr>
              <a:t>Memantau Progress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449824"/>
            <a:ext cx="2057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600" b="1">
                <a:solidFill>
                  <a:srgbClr val="172033"/>
                </a:solidFill>
                <a:latin typeface="Aptos"/>
              </a:rPr>
              <a:t>Tim Penilai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03320" y="5376672"/>
            <a:ext cx="2423160" cy="502920"/>
          </a:xfrm>
          <a:prstGeom prst="round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13048" y="5513832"/>
            <a:ext cx="22128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50" b="1">
                <a:solidFill>
                  <a:srgbClr val="1F4E79"/>
                </a:solidFill>
                <a:latin typeface="Aptos"/>
              </a:rPr>
              <a:t>-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20" y="5376672"/>
            <a:ext cx="2423160" cy="502920"/>
          </a:xfrm>
          <a:prstGeom prst="roundRect">
            <a:avLst/>
          </a:prstGeom>
          <a:solidFill>
            <a:srgbClr val="D9E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70648" y="5513832"/>
            <a:ext cx="22128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50" b="1">
                <a:solidFill>
                  <a:srgbClr val="2E7D32"/>
                </a:solidFill>
                <a:latin typeface="Aptos"/>
              </a:rPr>
              <a:t>Menilai di Sheet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6080760"/>
            <a:ext cx="8530412" cy="2308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en-US" sz="1500" b="1" dirty="0" err="1">
                <a:solidFill>
                  <a:srgbClr val="1F4E79"/>
                </a:solidFill>
                <a:latin typeface="Aptos"/>
              </a:rPr>
              <a:t>P</a:t>
            </a:r>
            <a:r>
              <a:rPr sz="1500" b="1" dirty="0" err="1">
                <a:solidFill>
                  <a:srgbClr val="1F4E79"/>
                </a:solidFill>
                <a:latin typeface="Aptos"/>
              </a:rPr>
              <a:t>enyelenggara</a:t>
            </a:r>
            <a:r>
              <a:rPr sz="1500" b="1" dirty="0">
                <a:solidFill>
                  <a:srgbClr val="1F4E79"/>
                </a:solidFill>
                <a:latin typeface="Aptos"/>
              </a:rPr>
              <a:t> punya </a:t>
            </a:r>
            <a:r>
              <a:rPr sz="1500" b="1" dirty="0" err="1">
                <a:solidFill>
                  <a:srgbClr val="1F4E79"/>
                </a:solidFill>
                <a:latin typeface="Aptos"/>
              </a:rPr>
              <a:t>jalur</a:t>
            </a:r>
            <a:r>
              <a:rPr sz="1500" b="1" dirty="0">
                <a:solidFill>
                  <a:srgbClr val="1F4E79"/>
                </a:solidFill>
                <a:latin typeface="Aptos"/>
              </a:rPr>
              <a:t> input dan monitoring; </a:t>
            </a:r>
            <a:r>
              <a:rPr sz="1500" b="1" dirty="0" err="1">
                <a:solidFill>
                  <a:srgbClr val="1F4E79"/>
                </a:solidFill>
                <a:latin typeface="Aptos"/>
              </a:rPr>
              <a:t>penilai</a:t>
            </a:r>
            <a:r>
              <a:rPr sz="1500" b="1" dirty="0">
                <a:solidFill>
                  <a:srgbClr val="1F4E79"/>
                </a:solidFill>
                <a:latin typeface="Aptos"/>
              </a:rPr>
              <a:t> </a:t>
            </a:r>
            <a:r>
              <a:rPr sz="1500" b="1" dirty="0" err="1">
                <a:solidFill>
                  <a:srgbClr val="1F4E79"/>
                </a:solidFill>
                <a:latin typeface="Aptos"/>
              </a:rPr>
              <a:t>cukup</a:t>
            </a:r>
            <a:r>
              <a:rPr sz="1500" b="1" dirty="0">
                <a:solidFill>
                  <a:srgbClr val="1F4E79"/>
                </a:solidFill>
                <a:latin typeface="Aptos"/>
              </a:rPr>
              <a:t> </a:t>
            </a:r>
            <a:r>
              <a:rPr sz="1500" b="1" dirty="0" err="1">
                <a:solidFill>
                  <a:srgbClr val="1F4E79"/>
                </a:solidFill>
                <a:latin typeface="Aptos"/>
              </a:rPr>
              <a:t>fo</a:t>
            </a:r>
            <a:r>
              <a:rPr lang="en-ID" sz="1500" b="1" dirty="0">
                <a:solidFill>
                  <a:srgbClr val="1F4E79"/>
                </a:solidFill>
                <a:latin typeface="Aptos"/>
              </a:rPr>
              <a:t>k</a:t>
            </a:r>
            <a:r>
              <a:rPr sz="1500" b="1" dirty="0">
                <a:solidFill>
                  <a:srgbClr val="1F4E79"/>
                </a:solidFill>
                <a:latin typeface="Aptos"/>
              </a:rPr>
              <a:t>us</a:t>
            </a:r>
            <a:r>
              <a:rPr lang="en-US" sz="1500" b="1" dirty="0">
                <a:solidFill>
                  <a:srgbClr val="1F4E79"/>
                </a:solidFill>
                <a:latin typeface="Aptos"/>
              </a:rPr>
              <a:t> </a:t>
            </a:r>
            <a:r>
              <a:rPr lang="en-US" sz="1500" b="1" dirty="0" err="1">
                <a:solidFill>
                  <a:srgbClr val="1F4E79"/>
                </a:solidFill>
                <a:latin typeface="Aptos"/>
              </a:rPr>
              <a:t>menilai</a:t>
            </a:r>
            <a:r>
              <a:rPr sz="1500" b="1" dirty="0">
                <a:solidFill>
                  <a:srgbClr val="1F4E79"/>
                </a:solidFill>
                <a:latin typeface="Aptos"/>
              </a:rPr>
              <a:t> di </a:t>
            </a:r>
            <a:r>
              <a:rPr sz="1500" b="1" dirty="0" err="1">
                <a:solidFill>
                  <a:srgbClr val="1F4E79"/>
                </a:solidFill>
                <a:latin typeface="Aptos"/>
              </a:rPr>
              <a:t>satu</a:t>
            </a:r>
            <a:r>
              <a:rPr sz="1500" b="1" dirty="0">
                <a:solidFill>
                  <a:srgbClr val="1F4E79"/>
                </a:solidFill>
                <a:latin typeface="Aptos"/>
              </a:rPr>
              <a:t> platform </a:t>
            </a:r>
            <a:r>
              <a:rPr sz="1500" b="1" dirty="0" err="1">
                <a:solidFill>
                  <a:srgbClr val="1F4E79"/>
                </a:solidFill>
                <a:latin typeface="Aptos"/>
              </a:rPr>
              <a:t>kerja</a:t>
            </a:r>
            <a:r>
              <a:rPr sz="1500" b="1" dirty="0">
                <a:solidFill>
                  <a:srgbClr val="1F4E79"/>
                </a:solidFill>
                <a:latin typeface="Aptos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28232"/>
            <a:ext cx="38404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 b="0">
                <a:solidFill>
                  <a:srgbClr val="98A2B3"/>
                </a:solidFill>
                <a:latin typeface="Aptos"/>
              </a:rPr>
              <a:t>Instrumen Penjaminan Mutu Pelatihan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00800"/>
            <a:ext cx="4114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98A2B3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Alur </a:t>
            </a:r>
            <a:r>
              <a:rPr lang="en-US" sz="28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pengisian</a:t>
            </a:r>
            <a:r>
              <a:rPr lang="en-US" sz="2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form </a:t>
            </a:r>
            <a:r>
              <a:rPr lang="en-US" sz="28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penjaminan</a:t>
            </a:r>
            <a:r>
              <a:rPr lang="en-US" sz="2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mutu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1060704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 dibuat agar pengisian penyelenggara dan penilaian tim berjalan di tempat yang berbeda tetapi tetap tersinkron otomatis.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05840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64282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Instrumen Penjaminan Mutu Pelatihan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09960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 b="1">
                <a:solidFill>
                  <a:srgbClr val="98A2B3"/>
                </a:solidFill>
                <a:latin typeface="Aptos"/>
              </a:rPr>
              <a:t>03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033"/>
                </a:solidFill>
              </a:rPr>
              <a:t>Penyelenggara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337560" y="2075688"/>
            <a:ext cx="914400" cy="475488"/>
          </a:xfrm>
          <a:prstGeom prst="chevron">
            <a:avLst/>
          </a:prstGeom>
          <a:solidFill>
            <a:srgbClr val="DCEBF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572000" y="213055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72033"/>
                </a:solidFill>
              </a:rPr>
              <a:t>Isi Form Mandiri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32918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</a:rPr>
              <a:t>Tim Penilai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337560" y="3218688"/>
            <a:ext cx="914400" cy="475488"/>
          </a:xfrm>
          <a:prstGeom prst="chevron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572000" y="327355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72033"/>
                </a:solidFill>
              </a:rPr>
              <a:t>Nilai di Sheet Tim 10/</a:t>
            </a:r>
            <a:r>
              <a:rPr lang="en-US" sz="1800" dirty="0" err="1">
                <a:solidFill>
                  <a:srgbClr val="172033"/>
                </a:solidFill>
              </a:rPr>
              <a:t>Penilai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44348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033"/>
                </a:solidFill>
              </a:rPr>
              <a:t>Penyelenggara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337560" y="4361688"/>
            <a:ext cx="914400" cy="475488"/>
          </a:xfrm>
          <a:prstGeom prst="chevron">
            <a:avLst/>
          </a:prstGeom>
          <a:solidFill>
            <a:srgbClr val="DCEBF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572000" y="441655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72033"/>
                </a:solidFill>
              </a:rPr>
              <a:t>Pantau Progress di Sheet </a:t>
            </a:r>
            <a:r>
              <a:rPr lang="en-US" sz="1800" dirty="0" err="1">
                <a:solidFill>
                  <a:srgbClr val="172033"/>
                </a:solidFill>
              </a:rPr>
              <a:t>Penyelenggara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Alur singkat setelah form dikirim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72768"/>
            <a:ext cx="1005840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40080" y="64282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Instrumen Penjaminan Mutu Pelatihan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09960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 b="1">
                <a:solidFill>
                  <a:srgbClr val="98A2B3"/>
                </a:solidFill>
                <a:latin typeface="Aptos"/>
              </a:rPr>
              <a:t>04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68680" y="1938528"/>
            <a:ext cx="502920" cy="50292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68680" y="204825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27632" y="19202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033"/>
                </a:solidFill>
              </a:rPr>
              <a:t>Response masuk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480560" y="1938528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</a:rPr>
              <a:t>Penyelenggara submit atau edit Google Form.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8680" y="2898648"/>
            <a:ext cx="502920" cy="50292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68680" y="300837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27632" y="28803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033"/>
                </a:solidFill>
              </a:rPr>
              <a:t>Sheet </a:t>
            </a:r>
            <a:r>
              <a:rPr lang="en-US" sz="1700" b="1" dirty="0" err="1">
                <a:solidFill>
                  <a:srgbClr val="172033"/>
                </a:solidFill>
              </a:rPr>
              <a:t>penilai</a:t>
            </a:r>
            <a:r>
              <a:rPr lang="en-US" sz="1700" b="1" dirty="0">
                <a:solidFill>
                  <a:srgbClr val="172033"/>
                </a:solidFill>
              </a:rPr>
              <a:t> diperbarui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480560" y="2898648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</a:rPr>
              <a:t>Rekap, Detail Jawaban, dan tab nama pelatihan tersinkron.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68680" y="3858768"/>
            <a:ext cx="502920" cy="50292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68680" y="396849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27632" y="38404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033"/>
                </a:solidFill>
              </a:rPr>
              <a:t>Sheet progress </a:t>
            </a:r>
            <a:r>
              <a:rPr lang="en-US" sz="1700" b="1" dirty="0" err="1">
                <a:solidFill>
                  <a:srgbClr val="172033"/>
                </a:solidFill>
              </a:rPr>
              <a:t>dibuat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480560" y="3858768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</a:rPr>
              <a:t>Penyelenggara menerima link langsung ke Progress Indikator.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68680" y="4818888"/>
            <a:ext cx="502920" cy="50292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68680" y="49286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627632" y="48006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033"/>
                </a:solidFill>
              </a:rPr>
              <a:t>Status dinilai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480560" y="4818888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</a:rPr>
              <a:t>Tim penilai memilih status indikator dari dropdown.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Yang dilakukan penyelenggara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72768"/>
            <a:ext cx="1005840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40080" y="64282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Instrumen Penjaminan Mutu Pelatihan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09960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 b="1">
                <a:solidFill>
                  <a:srgbClr val="98A2B3"/>
                </a:solidFill>
                <a:latin typeface="Aptos"/>
              </a:rPr>
              <a:t>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914400" y="2039112"/>
            <a:ext cx="73152" cy="7315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78992" y="196596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Isi identitas pelatihan dengan nama resmi dan konsisten.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2660904"/>
            <a:ext cx="73152" cy="7315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078992" y="2587752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Isi nilai mandiri untuk 54 indikator.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3282696"/>
            <a:ext cx="73152" cy="7315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78992" y="3209544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Lampirkan bukti melalui link dokumen atau upload file.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3904488"/>
            <a:ext cx="73152" cy="7315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1078992" y="3831336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Gunakan keterangan jika bukti belum lengkap atau indikator tidak berlaku.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4400" y="5257800"/>
            <a:ext cx="1828800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914400" y="5504688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4E79"/>
                </a:solidFill>
              </a:rPr>
              <a:t>Cukup satu sumber bukti per indikator: link atau upload file.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Yang diterima penyelenggara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1060704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Setelah submit, sistem mengirim email berisi link Google Sheet khusus penyelenggara.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05840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64282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Instrumen Penjaminan Mutu Pelatihan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09960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 b="1">
                <a:solidFill>
                  <a:srgbClr val="98A2B3"/>
                </a:solidFill>
                <a:latin typeface="Aptos"/>
              </a:rPr>
              <a:t>06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</a:rPr>
              <a:t>Ringkasan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914400" y="2743200"/>
            <a:ext cx="1097280" cy="0"/>
          </a:xfrm>
          <a:prstGeom prst="line">
            <a:avLst/>
          </a:prstGeom>
          <a:noFill/>
          <a:ln w="381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14400" y="2999232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2033"/>
                </a:solidFill>
              </a:rPr>
              <a:t>Melihat total indikator, sudah dinilai, belum dinilai, dan perlu tindak lanjut.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715000" y="2240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E7D32"/>
                </a:solidFill>
              </a:rPr>
              <a:t>Progress Indikator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715000" y="2743200"/>
            <a:ext cx="1097280" cy="0"/>
          </a:xfrm>
          <a:prstGeom prst="line">
            <a:avLst/>
          </a:prstGeom>
          <a:noFill/>
          <a:ln w="38100">
            <a:solidFill>
              <a:srgbClr val="2E7D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715000" y="2999232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2033"/>
                </a:solidFill>
              </a:rPr>
              <a:t>Melihat status setiap indikator dan catatan tim penilai.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14400" y="516636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</a:rPr>
              <a:t>Link email langsung membuka tab Progress Indikator.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Yang dilakukan tim penilai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72768"/>
            <a:ext cx="1005840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40080" y="64282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Instrumen Penjaminan Mutu Pelatihan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09960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 b="1">
                <a:solidFill>
                  <a:srgbClr val="98A2B3"/>
                </a:solidFill>
                <a:latin typeface="Aptos"/>
              </a:rPr>
              <a:t>07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914400" y="2039112"/>
            <a:ext cx="73152" cy="7315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78992" y="196596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Buka tab sesuai nama pelatihan di Google Sheet Tim </a:t>
            </a:r>
            <a:r>
              <a:rPr lang="en-US" sz="1600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Penilai</a:t>
            </a: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2660904"/>
            <a:ext cx="73152" cy="7315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078992" y="2587752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Periksa nilai mandiri, link dokumen, upload file, dan keterangan.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3282696"/>
            <a:ext cx="73152" cy="7315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78992" y="3209544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Isi Nilai Tim Penilai jika perlu koreksi nilai.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3904488"/>
            <a:ext cx="73152" cy="7315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1078992" y="3831336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Isi Catatan Tim Penilai jika ada arahan perbaikan.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4400" y="4526280"/>
            <a:ext cx="73152" cy="7315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078992" y="445312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Pilih Status Penilaian dari dropdown.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14400" y="5257800"/>
            <a:ext cx="1828800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914400" y="5504688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4E79"/>
                </a:solidFill>
              </a:rPr>
              <a:t>Status penilaian otomatis tersinkron ke sheet penyelenggara.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Status </a:t>
            </a:r>
            <a:r>
              <a:rPr lang="en-US" sz="28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penilaian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72768"/>
            <a:ext cx="1005840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40080" y="64282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Instrumen Penjaminan Mutu Pelatihan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09960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 b="1">
                <a:solidFill>
                  <a:srgbClr val="98A2B3"/>
                </a:solidFill>
                <a:latin typeface="Aptos"/>
              </a:rPr>
              <a:t>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914400" y="2011680"/>
            <a:ext cx="201168" cy="685800"/>
          </a:xfrm>
          <a:prstGeom prst="rect">
            <a:avLst/>
          </a:prstGeom>
          <a:solidFill>
            <a:srgbClr val="B779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325880" y="202996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7791F"/>
                </a:solidFill>
              </a:rPr>
              <a:t>Belum Dinilai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26280" y="2057400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2033"/>
                </a:solidFill>
              </a:rPr>
              <a:t>Indikator belum diperiksa oleh tim penilai.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3154680"/>
            <a:ext cx="201168" cy="685800"/>
          </a:xfrm>
          <a:prstGeom prst="rect">
            <a:avLst/>
          </a:prstGeom>
          <a:solidFill>
            <a:srgbClr val="2E7D3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325880" y="317296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7D32"/>
                </a:solidFill>
              </a:rPr>
              <a:t>Sudah Sesuai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26280" y="3200400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2033"/>
                </a:solidFill>
              </a:rPr>
              <a:t>Bukti dan isian sudah sesuai.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4297680"/>
            <a:ext cx="201168" cy="685800"/>
          </a:xfrm>
          <a:prstGeom prst="rect">
            <a:avLst/>
          </a:prstGeom>
          <a:solidFill>
            <a:srgbClr val="C6591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1325880" y="431596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65911"/>
                </a:solidFill>
              </a:rPr>
              <a:t>Perlu Tindak Lanjut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26280" y="4343400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2033"/>
                </a:solidFill>
              </a:rPr>
              <a:t>Ada bukti, isian, atau klarifikasi yang perlu diperbaiki.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Manfaat untuk masing-masing pihak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72768"/>
            <a:ext cx="1005840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40080" y="64282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Instrumen Penjaminan Mutu Pelatihan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09960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 b="1">
                <a:solidFill>
                  <a:srgbClr val="98A2B3"/>
                </a:solidFill>
                <a:latin typeface="Aptos"/>
              </a:rPr>
              <a:t>09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</a:rPr>
              <a:t>Penyelenggara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68680" y="2633472"/>
            <a:ext cx="73152" cy="7315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033272" y="25603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Tahu indikator mana yang sudah sesuai.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68680" y="3291840"/>
            <a:ext cx="73152" cy="7315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33272" y="321868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Melihat catatan </a:t>
            </a:r>
            <a:r>
              <a:rPr lang="en-US" sz="1600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penilai</a:t>
            </a: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melalui</a:t>
            </a: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sheets </a:t>
            </a:r>
            <a:r>
              <a:rPr lang="en-US" sz="1600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dari</a:t>
            </a: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email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8680" y="3950208"/>
            <a:ext cx="73152" cy="7315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033272" y="387705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Mendapat link progress otomatis via email.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80760" y="1828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7D32"/>
                </a:solidFill>
              </a:rPr>
              <a:t>Tim Penilai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080760" y="2633472"/>
            <a:ext cx="73152" cy="7315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245352" y="25603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Bekerja di </a:t>
            </a:r>
            <a:r>
              <a:rPr lang="en-US" sz="1600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satu</a:t>
            </a: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tab </a:t>
            </a:r>
            <a:r>
              <a:rPr lang="en-US" sz="1600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pelatihan</a:t>
            </a: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yang </a:t>
            </a:r>
            <a:r>
              <a:rPr lang="en-US" sz="1600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ringkas</a:t>
            </a: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utk</a:t>
            </a: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menilai</a:t>
            </a: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dan </a:t>
            </a:r>
            <a:r>
              <a:rPr lang="en-US" sz="1600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memberi</a:t>
            </a: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catatan</a:t>
            </a: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080760" y="3268890"/>
            <a:ext cx="73152" cy="7315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245352" y="32049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status langsung terlihat oleh penyelenggara.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8046720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800" b="1">
                <a:solidFill>
                  <a:srgbClr val="172033"/>
                </a:solidFill>
                <a:latin typeface="Aptos"/>
              </a:rPr>
              <a:t>Link operasional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8412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50" b="0">
                <a:solidFill>
                  <a:srgbClr val="667085"/>
                </a:solidFill>
                <a:latin typeface="Aptos"/>
              </a:rPr>
              <a:t>Gunakan dua tautan berikut sesuai peran masing-masing.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1005840" cy="274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68679" y="1965960"/>
            <a:ext cx="5854849" cy="1325880"/>
          </a:xfrm>
          <a:prstGeom prst="roundRect">
            <a:avLst/>
          </a:prstGeom>
          <a:solidFill>
            <a:srgbClr val="DCEBFA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" y="2185415"/>
            <a:ext cx="43891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1F4E79"/>
                </a:solidFill>
                <a:latin typeface="Aptos"/>
              </a:rPr>
              <a:t>Form Penilaian Mandiri</a:t>
            </a:r>
          </a:p>
        </p:txBody>
      </p:sp>
      <p:sp>
        <p:nvSpPr>
          <p:cNvPr id="7" name="TextBox 6">
            <a:hlinkClick r:id="rId2"/>
          </p:cNvPr>
          <p:cNvSpPr txBox="1"/>
          <p:nvPr/>
        </p:nvSpPr>
        <p:spPr>
          <a:xfrm>
            <a:off x="1124712" y="2624328"/>
            <a:ext cx="443484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80" b="0" dirty="0">
                <a:solidFill>
                  <a:srgbClr val="1F4E79"/>
                </a:solidFill>
                <a:latin typeface="Aptos"/>
              </a:rPr>
              <a:t>https://docs.google.com/forms/d/1uHzZrUlV2MuCAxA6DwmzI0q-IoAZJhlY5FUHOKEWH44/edit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79" y="3817620"/>
            <a:ext cx="5854849" cy="1325880"/>
          </a:xfrm>
          <a:prstGeom prst="roundRect">
            <a:avLst/>
          </a:prstGeom>
          <a:solidFill>
            <a:srgbClr val="D9EAD3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24712" y="4037075"/>
            <a:ext cx="43891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 dirty="0">
                <a:solidFill>
                  <a:srgbClr val="2E7D32"/>
                </a:solidFill>
                <a:latin typeface="Aptos"/>
              </a:rPr>
              <a:t>Google Sheet Tim </a:t>
            </a:r>
            <a:r>
              <a:rPr sz="1800" b="1" dirty="0" err="1">
                <a:solidFill>
                  <a:srgbClr val="2E7D32"/>
                </a:solidFill>
                <a:latin typeface="Aptos"/>
              </a:rPr>
              <a:t>Penilai</a:t>
            </a:r>
            <a:endParaRPr sz="1800" b="1" dirty="0">
              <a:solidFill>
                <a:srgbClr val="2E7D32"/>
              </a:solidFill>
              <a:latin typeface="Aptos"/>
            </a:endParaRPr>
          </a:p>
        </p:txBody>
      </p:sp>
      <p:sp>
        <p:nvSpPr>
          <p:cNvPr id="10" name="TextBox 9">
            <a:hlinkClick r:id="rId3"/>
          </p:cNvPr>
          <p:cNvSpPr txBox="1"/>
          <p:nvPr/>
        </p:nvSpPr>
        <p:spPr>
          <a:xfrm>
            <a:off x="1124712" y="4475988"/>
            <a:ext cx="443484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80" b="0" dirty="0">
                <a:solidFill>
                  <a:srgbClr val="1F4E79"/>
                </a:solidFill>
                <a:latin typeface="Aptos"/>
              </a:rPr>
              <a:t>https://docs.google.com/spreadsheets/d/1nJGiUrdr-QCb9GoltjmxMS9BK_i1eGwwx7VjDTLJ8Z8/edit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28232"/>
            <a:ext cx="38404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 b="0">
                <a:solidFill>
                  <a:srgbClr val="98A2B3"/>
                </a:solidFill>
                <a:latin typeface="Aptos"/>
              </a:rPr>
              <a:t>Instrumen Penjaminan Mutu Pelatihan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00800"/>
            <a:ext cx="4114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98A2B3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542</Words>
  <Application>Microsoft Office PowerPoint</Application>
  <PresentationFormat>Widescreen</PresentationFormat>
  <Paragraphs>108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Pusdiklat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Sosialisasi Instrumen Penjaminan Mutu Pelatihan</dc:title>
  <dc:subject>Sosialisasi Instrumen Penjaminan Mutu</dc:subject>
  <dc:creator>Pusdiklat</dc:creator>
  <cp:lastModifiedBy>RINALDO</cp:lastModifiedBy>
  <cp:revision>5</cp:revision>
  <dcterms:created xsi:type="dcterms:W3CDTF">2026-05-20T04:45:47Z</dcterms:created>
  <dcterms:modified xsi:type="dcterms:W3CDTF">2026-05-20T05:13:55Z</dcterms:modified>
</cp:coreProperties>
</file>